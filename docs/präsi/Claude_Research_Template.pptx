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704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9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RESEARCH-WORKFLOW · CLAUDE DESKTOP + OBSIDIAN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Research Template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5292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sind der Brainstorm-Raum. Der Vault ist die einzige Quelle der Wahrheit.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Stand: 09.06.2026 · heute real im Einsatz auf der Vault-Maschine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077456" y="1673352"/>
            <a:ext cx="0" cy="512064"/>
          </a:xfrm>
          <a:prstGeom prst="line">
            <a:avLst/>
          </a:prstGeom>
          <a:noFill/>
          <a:ln w="19050">
            <a:solidFill>
              <a:srgbClr val="4436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77456" y="2898648"/>
            <a:ext cx="0" cy="512064"/>
          </a:xfrm>
          <a:prstGeom prst="line">
            <a:avLst/>
          </a:prstGeom>
          <a:noFill/>
          <a:ln w="19050">
            <a:solidFill>
              <a:srgbClr val="443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960120"/>
            <a:ext cx="713232" cy="713232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3413" y="1152693"/>
            <a:ext cx="328087" cy="32808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720840" y="2185416"/>
            <a:ext cx="713232" cy="713232"/>
          </a:xfrm>
          <a:prstGeom prst="ellipse">
            <a:avLst/>
          </a:prstGeom>
          <a:solidFill>
            <a:srgbClr val="C257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413" y="2377989"/>
            <a:ext cx="328087" cy="32808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720840" y="3410712"/>
            <a:ext cx="713232" cy="713232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413" y="3603285"/>
            <a:ext cx="328087" cy="3280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9520" y="10058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8F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flüchtig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589520" y="2231136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/push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8F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konsolidieren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589520" y="34564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8F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F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das Template liefert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913632" cy="1572768"/>
          </a:xfrm>
          <a:prstGeom prst="roundRect">
            <a:avLst>
              <a:gd name="adj" fmla="val 4070"/>
            </a:avLst>
          </a:prstGeom>
          <a:solidFill>
            <a:srgbClr val="FBFAFD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444752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568196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426464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Vault-Struktur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53312" y="17373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Rollen pro Datei: _PROJECT.md, _PLAN.md, _DECISIONS.md und Scratch/ als Idea-Bin.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81728" y="1207008"/>
            <a:ext cx="3913632" cy="1572768"/>
          </a:xfrm>
          <a:prstGeom prst="roundRect">
            <a:avLst>
              <a:gd name="adj" fmla="val 4070"/>
            </a:avLst>
          </a:prstGeom>
          <a:solidFill>
            <a:srgbClr val="FBFAFD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82896" y="1444752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568196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426464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System-Prompt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486400" y="17373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Verankert /push, /pull*, /sync und den Drift-Check fest im Claude Project.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99232"/>
            <a:ext cx="3913632" cy="1572768"/>
          </a:xfrm>
          <a:prstGeom prst="roundRect">
            <a:avLst>
              <a:gd name="adj" fmla="val 4070"/>
            </a:avLst>
          </a:prstGeom>
          <a:solidFill>
            <a:srgbClr val="FBFAFD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3236976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3360420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321868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Setup-Guides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353312" y="3529584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Einrichtung von Vault und MCP-Servern für Obsidian und Zotero, Schritt für Schritt.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81728" y="2999232"/>
            <a:ext cx="3913632" cy="1572768"/>
          </a:xfrm>
          <a:prstGeom prst="roundRect">
            <a:avLst>
              <a:gd name="adj" fmla="val 4070"/>
            </a:avLst>
          </a:prstGeom>
          <a:solidFill>
            <a:srgbClr val="FBFAFD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82896" y="3236976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360420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21868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Dr.-Prompts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486400" y="3529584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rollenbasierte System-Prompts für wiederkehrende Aufgaben ohne Projekt-Vault.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Forschende und Wissensarbeiter mit Claude Desktop, Obsidian-Vault und lokaler MCP-Installation.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F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MENTALES MODELL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ist Werkstatt — der Vault ist Repository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520440" cy="2880360"/>
          </a:xfrm>
          <a:prstGeom prst="roundRect">
            <a:avLst>
              <a:gd name="adj" fmla="val 2222"/>
            </a:avLst>
          </a:prstGeom>
          <a:solidFill>
            <a:srgbClr val="F5F4F8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475488" cy="475488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622" y="1545702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1426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— flüchtig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89888" y="1709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directory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21945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Brainstormen, diskutieren, iterieren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Falsche Hypothesen ausdrücklich erlaubt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bleibt verwerfbar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74920" y="1188720"/>
            <a:ext cx="3520440" cy="2880360"/>
          </a:xfrm>
          <a:prstGeom prst="roundRect">
            <a:avLst>
              <a:gd name="adj" fmla="val 2222"/>
            </a:avLst>
          </a:prstGeom>
          <a:solidFill>
            <a:srgbClr val="EFEBF7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03520" y="1417320"/>
            <a:ext cx="475488" cy="475488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902" y="1545702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16168" y="14264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— persistent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916168" y="17099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303520" y="21945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saubere, konsolidierte Zustände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Dokumentierte Entscheidungen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 Pläne und TODOs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041648" y="208483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5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/push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160520" y="2487168"/>
            <a:ext cx="822960" cy="0"/>
          </a:xfrm>
          <a:prstGeom prst="line">
            <a:avLst/>
          </a:prstGeom>
          <a:noFill/>
          <a:ln w="31750">
            <a:solidFill>
              <a:srgbClr val="C2573A"/>
            </a:solidFill>
            <a:prstDash val="solid"/>
            <a:tailEnd type="triangle"/>
          </a:ln>
        </p:spPr>
      </p:sp>
      <p:sp>
        <p:nvSpPr>
          <p:cNvPr id="19" name="Text 15"/>
          <p:cNvSpPr/>
          <p:nvPr/>
        </p:nvSpPr>
        <p:spPr>
          <a:xfrm>
            <a:off x="3950208" y="2615184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5-Schritt-Ritual,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pro Datei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48640" y="4279392"/>
            <a:ext cx="8046720" cy="530352"/>
          </a:xfrm>
          <a:prstGeom prst="roundRect">
            <a:avLst>
              <a:gd name="adj" fmla="val 10345"/>
            </a:avLst>
          </a:prstGeom>
          <a:solidFill>
            <a:srgbClr val="F9ECE6"/>
          </a:solidFill>
          <a:ln/>
        </p:spPr>
      </p:sp>
      <p:sp>
        <p:nvSpPr>
          <p:cNvPr id="21" name="Text 17"/>
          <p:cNvSpPr/>
          <p:nvPr/>
        </p:nvSpPr>
        <p:spPr>
          <a:xfrm>
            <a:off x="777240" y="427939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Trennung ist Absicht: ohne sie wird der Chat zu vorsichtig — oder der Vault verstopft mit Halbgedanken.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F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VAULT-STRUKTUR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Mappe pro Projekt — flach oder hierarchisch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3886200" cy="2468880"/>
          </a:xfrm>
          <a:prstGeom prst="roundRect">
            <a:avLst>
              <a:gd name="adj" fmla="val 2593"/>
            </a:avLst>
          </a:prstGeom>
          <a:solidFill>
            <a:srgbClr val="2A2342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81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FLAT-PROJEKT — EINE ARBEITSFLÄCHE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Projects/[Name]/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_PROJECT.md    Status + TODOs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_PLAN.md       Roadmap, Risiken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_DECISIONS.md  Log, append-only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Scratch/       Idea-Bin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298448"/>
            <a:ext cx="3886200" cy="2468880"/>
          </a:xfrm>
          <a:prstGeom prst="roundRect">
            <a:avLst>
              <a:gd name="adj" fmla="val 2593"/>
            </a:avLst>
          </a:prstGeom>
          <a:solidFill>
            <a:srgbClr val="2A2342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481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HIERARCHISCH — PARENT + SUBPROJEKTE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8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Projects/[Parent]/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8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_PROJECT.md · _PLAN.md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8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_DECISIONS.md  alle, mit Tag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8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Scratch/       nur hier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8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[Subprojekt_A]/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8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_PLAN.md    Pflicht, wenn aktiv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8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[Subprojekt_B]/ 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133088"/>
            <a:ext cx="109728" cy="109728"/>
          </a:xfrm>
          <a:prstGeom prst="ellipse">
            <a:avLst/>
          </a:prstGeom>
          <a:solidFill>
            <a:srgbClr val="C2573A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40416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Scratch/ lebt nur auf Parent-Ebene — keine Fragmentierung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0128" y="4133088"/>
            <a:ext cx="109728" cy="109728"/>
          </a:xfrm>
          <a:prstGeom prst="ellipse">
            <a:avLst/>
          </a:prstGeom>
          <a:solidFill>
            <a:srgbClr val="C2573A"/>
          </a:solidFill>
          <a:ln/>
        </p:spPr>
      </p:sp>
      <p:sp>
        <p:nvSpPr>
          <p:cNvPr id="14" name="Text 12"/>
          <p:cNvSpPr/>
          <p:nvPr/>
        </p:nvSpPr>
        <p:spPr>
          <a:xfrm>
            <a:off x="3529584" y="40416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Subprojekt im Subprojekt — tiefer sind einfache Ordner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71616" y="4133088"/>
            <a:ext cx="109728" cy="109728"/>
          </a:xfrm>
          <a:prstGeom prst="ellipse">
            <a:avLst/>
          </a:prstGeom>
          <a:solidFill>
            <a:srgbClr val="C2573A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40416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Subprojekt-Decisions nur bei hohem Volumen, sonst Tag im Parent-Log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F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KONVENTIONEN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Jede Datei hat genau eine Rolle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61872"/>
          <a:ext cx="80467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069080"/>
                <a:gridCol w="22860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4B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4B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 schreibt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4B8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43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_PROJECT.md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Status, Phase, Next Milestone, flache TODO-Liste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— nur via /push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43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_PLAN.md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Roadmap, Phasen mit Definition of Done, Risiko-Tabelle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— nur nach 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43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_DECISIONS.md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Append-only-Log: Context, Options, Decision, 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— nur via /push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43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Scratch/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Brainstorm, Halbgedanken, datierte Notizen oben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&amp; Claude — frei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43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Bibliography/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Optional: Paper-Notizen + _INDEX.md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— via /sync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Vorlagen mit Platzhaltern liegen unter _PROJECT_TEMPLATES/ und werden beim Setup ersetzt.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F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Rituale halten Chat und Vault synchron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913632" cy="1572768"/>
          </a:xfrm>
          <a:prstGeom prst="roundRect">
            <a:avLst>
              <a:gd name="adj" fmla="val 4070"/>
            </a:avLst>
          </a:prstGeom>
          <a:solidFill>
            <a:srgbClr val="FBFAFD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444752"/>
            <a:ext cx="457200" cy="457200"/>
          </a:xfrm>
          <a:prstGeom prst="ellipse">
            <a:avLst/>
          </a:prstGeom>
          <a:solidFill>
            <a:srgbClr val="C257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568196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426464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/push</a:t>
            </a:r>
            <a:pPr indent="0" marL="0">
              <a:buNone/>
            </a:pPr>
            <a:r>
              <a:rPr lang="en-US" sz="1000" i="1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schreibt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53312" y="17373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einzige Ritual, das schreibt: 5 Schritte mit Preview und Bestätigung pro Datei.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81728" y="1207008"/>
            <a:ext cx="3913632" cy="1572768"/>
          </a:xfrm>
          <a:prstGeom prst="roundRect">
            <a:avLst>
              <a:gd name="adj" fmla="val 4070"/>
            </a:avLst>
          </a:prstGeom>
          <a:solidFill>
            <a:srgbClr val="FBFAFD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82896" y="1444752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568196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426464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/pull*</a:t>
            </a:r>
            <a:pPr indent="0" marL="0">
              <a:buNone/>
            </a:pPr>
            <a:r>
              <a:rPr lang="en-US" sz="1000" i="1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read-only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0" y="17373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Lese-Familie von Auto-Pull bis /where — blockiert das Gespräch nie.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99232"/>
            <a:ext cx="3913632" cy="1572768"/>
          </a:xfrm>
          <a:prstGeom prst="roundRect">
            <a:avLst>
              <a:gd name="adj" fmla="val 4070"/>
            </a:avLst>
          </a:prstGeom>
          <a:solidFill>
            <a:srgbClr val="FBFAFD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3236976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3360420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321868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/sync</a:t>
            </a:r>
            <a:pPr indent="0" marL="0">
              <a:buNone/>
            </a:pPr>
            <a:r>
              <a:rPr lang="en-US" sz="1000" i="1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diff-basiert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53312" y="3529584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Zotero ↔ Obsidian: Bibliographie abgleichen, pro Kategorie bestätigt.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81728" y="2999232"/>
            <a:ext cx="3913632" cy="1572768"/>
          </a:xfrm>
          <a:prstGeom prst="roundRect">
            <a:avLst>
              <a:gd name="adj" fmla="val 4070"/>
            </a:avLst>
          </a:prstGeom>
          <a:solidFill>
            <a:srgbClr val="FBFAFD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82896" y="3236976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360420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21868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Drift-Check</a:t>
            </a:r>
            <a:pPr indent="0" marL="0">
              <a:buNone/>
            </a:pPr>
            <a:r>
              <a:rPr lang="en-US" sz="1000" i="1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zyklisch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0" y="3529584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3–4 substantielle Wechsel: Frühwarnsystem gegen Chat/Vault-Drift.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Nichts passiert heimlich: Schreiben nur nach explizitem OK, Lesen immer mit transparentem Hinweis.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F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 /PUSH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Konsolidierung in fünf Schritten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53312" y="1700784"/>
            <a:ext cx="6437376" cy="0"/>
          </a:xfrm>
          <a:prstGeom prst="line">
            <a:avLst/>
          </a:prstGeom>
          <a:noFill/>
          <a:ln w="22225">
            <a:solidFill>
              <a:srgbClr val="DDD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1417320"/>
            <a:ext cx="566928" cy="566928"/>
          </a:xfrm>
          <a:prstGeom prst="ellipse">
            <a:avLst/>
          </a:prstGeom>
          <a:solidFill>
            <a:srgbClr val="5F4B8B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76072" y="21396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" y="2432304"/>
            <a:ext cx="1499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zusammenfassen: Decisions, Insights, offene Punkte — User korrigiert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79192" y="1417320"/>
            <a:ext cx="566928" cy="566928"/>
          </a:xfrm>
          <a:prstGeom prst="ellipse">
            <a:avLst/>
          </a:prstGeom>
          <a:solidFill>
            <a:srgbClr val="5F4B8B"/>
          </a:solidFill>
          <a:ln/>
        </p:spPr>
      </p:sp>
      <p:sp>
        <p:nvSpPr>
          <p:cNvPr id="11" name="Text 9"/>
          <p:cNvSpPr/>
          <p:nvPr/>
        </p:nvSpPr>
        <p:spPr>
          <a:xfrm>
            <a:off x="2679192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85416" y="21396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Diff-Plan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12848" y="2432304"/>
            <a:ext cx="1499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lesen, Änderungen in Prosa beschreiben — noch kein Write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88536" y="1417320"/>
            <a:ext cx="566928" cy="566928"/>
          </a:xfrm>
          <a:prstGeom prst="ellipse">
            <a:avLst/>
          </a:prstGeom>
          <a:solidFill>
            <a:srgbClr val="5F4B8B"/>
          </a:solidFill>
          <a:ln/>
        </p:spPr>
      </p:sp>
      <p:sp>
        <p:nvSpPr>
          <p:cNvPr id="15" name="Text 13"/>
          <p:cNvSpPr/>
          <p:nvPr/>
        </p:nvSpPr>
        <p:spPr>
          <a:xfrm>
            <a:off x="4288536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94760" y="21396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Rückfragen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22192" y="2432304"/>
            <a:ext cx="1499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Einordnung klären: Decision oder offene Ablation? TODO-Status?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97880" y="1417320"/>
            <a:ext cx="566928" cy="566928"/>
          </a:xfrm>
          <a:prstGeom prst="ellipse">
            <a:avLst/>
          </a:prstGeom>
          <a:solidFill>
            <a:srgbClr val="C2573A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04104" y="21396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31536" y="2432304"/>
            <a:ext cx="1499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Datei: Text/Diff zeigen, OK abwarten, dann schreiben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07224" y="1417320"/>
            <a:ext cx="566928" cy="566928"/>
          </a:xfrm>
          <a:prstGeom prst="ellipse">
            <a:avLst/>
          </a:prstGeom>
          <a:solidFill>
            <a:srgbClr val="5F4B8B"/>
          </a:solidFill>
          <a:ln/>
        </p:spPr>
      </p:sp>
      <p:sp>
        <p:nvSpPr>
          <p:cNvPr id="23" name="Text 21"/>
          <p:cNvSpPr/>
          <p:nvPr/>
        </p:nvSpPr>
        <p:spPr>
          <a:xfrm>
            <a:off x="7507224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13448" y="21396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2432304"/>
            <a:ext cx="1499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Kurz-Summary + Next-Chat-Starter zum Reinpasten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9ECE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93192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Leer-Push: </a:t>
            </a:r>
            <a:pPr indent="0" marL="0">
              <a:buNone/>
            </a:pPr>
            <a:r>
              <a:rPr lang="en-US" sz="1150" dirty="0">
                <a:solidFill>
                  <a:srgbClr val="2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nichts konsolidierungswürdig, sagt Claude das ehrlich und beendet das Ritual sofort — kein Pseudo-Push.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F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 /PULL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Lesen ohne zu blockieren — strikt read-only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25296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4B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passiert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4B8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43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Auto-Pull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Automatisch bei Statusfragen und Bezügen — mit transparentem Hinweis „lese kurz X“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43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/pull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Voller Refresh: Parent- und alle aktiven Subprojekt-Meta-Files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43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/pull_path &lt;pfad&gt;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Gezielt; Rückfrage bei mehrdeutigem Namen oder sehr großen Dateien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43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/pull_keyword &lt;term&gt;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Volltextsuche im Projekt: Treffer mit Snippets, dann Auswahl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43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/pull_subproject &lt;n&gt;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Subprojekt-_PLAN.md plus optional dessen _DECISIONS.md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43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/where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Meta-Synthese: wo stehen wir, was ist vereinbart, was fehlt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26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 Auto-Pull-Reihenfolge: _PROJECT.md → _PLAN.md → _DECISIONS.md → spezifische Subfiles.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F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 /SYNC + DRIFT-CHECK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abgleichen, Drift früh erkennen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913632" cy="3474720"/>
          </a:xfrm>
          <a:prstGeom prst="roundRect">
            <a:avLst>
              <a:gd name="adj" fmla="val 1842"/>
            </a:avLst>
          </a:prstGeom>
          <a:solidFill>
            <a:srgbClr val="FBFAFD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08176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531620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630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/sync — Zotero ↔ Obsidian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" y="1993392"/>
            <a:ext cx="34290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Aktive Zotero-Collection ziehen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_INDEX.md + Notizen aus dem Vault lesen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zeigen: Neu / Verwaist / Metadata-Drift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Kategorie nachfragen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nach Bestätigung anwenden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1248" y="36576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enthalten: </a:t>
            </a:r>
            <a:pPr indent="0" marL="0">
              <a:buNone/>
            </a:pPr>
            <a:r>
              <a:rPr lang="en-US" sz="10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Push Obsidian → Zotero (Adds via zotero_add_by_doi), kein Auto-Löschen verwaister Notizen, keine Änderung an Notiz-Bodies.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81728" y="1207008"/>
            <a:ext cx="3913632" cy="3474720"/>
          </a:xfrm>
          <a:prstGeom prst="roundRect">
            <a:avLst>
              <a:gd name="adj" fmla="val 1842"/>
            </a:avLst>
          </a:prstGeom>
          <a:solidFill>
            <a:srgbClr val="EFEBF7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0328" y="1408176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772" y="1531620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04688" y="14630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Drift-Check — zyklisch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37760" y="199339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3–4 substantielle Wechsel gleicht Claude Chat-Realität und Vault-Stand kompakt ab: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37760" y="2578608"/>
            <a:ext cx="3401568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</p:spPr>
      </p:sp>
      <p:sp>
        <p:nvSpPr>
          <p:cNvPr id="17" name="Text 13"/>
          <p:cNvSpPr/>
          <p:nvPr/>
        </p:nvSpPr>
        <p:spPr>
          <a:xfrm>
            <a:off x="5102352" y="2578608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3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„Wir haben jetzt A, B, C diskutiert. Der Vault hat X, Y. Drift-Beobachtung: … Weitermachen oder zuerst klären?“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937760" y="3785616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Frühwarnsystem, keine Korrektur-Schleife — bei laufendem Gedankengang wird bis zur nächsten Pause verschoben.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F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HEUTE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getrennte Welten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401568" cy="3017520"/>
          </a:xfrm>
          <a:prstGeom prst="roundRect">
            <a:avLst>
              <a:gd name="adj" fmla="val 2121"/>
            </a:avLst>
          </a:prstGeom>
          <a:solidFill>
            <a:srgbClr val="EFEBF7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444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Vault-Maschine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7282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persönlicher Laptop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214884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— Desktop-Editor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— Chat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Filesystem-MCP + Zotero-MCP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OgVault als Single Source of Truth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93792" y="1234440"/>
            <a:ext cx="3401568" cy="3017520"/>
          </a:xfrm>
          <a:prstGeom prst="roundRect">
            <a:avLst>
              <a:gd name="adj" fmla="val 2121"/>
            </a:avLst>
          </a:prstGeom>
          <a:solidFill>
            <a:srgbClr val="F9ECE6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49824" y="1444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Dev-Maschine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49824" y="17282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DevContainer im Repo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49824" y="214884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+ CUDA 12.6 (Docker)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im Container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package-docs-Skill + Slash-Befehle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MCP, kein Vault-Zugriff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950208" y="2542032"/>
            <a:ext cx="292608" cy="0"/>
          </a:xfrm>
          <a:prstGeom prst="line">
            <a:avLst/>
          </a:prstGeom>
          <a:noFill/>
          <a:ln w="15875">
            <a:solidFill>
              <a:srgbClr val="6E6884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901184" y="2542032"/>
            <a:ext cx="292608" cy="0"/>
          </a:xfrm>
          <a:prstGeom prst="line">
            <a:avLst/>
          </a:prstGeom>
          <a:noFill/>
          <a:ln w="15875">
            <a:solidFill>
              <a:srgbClr val="6E688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251960" y="2221992"/>
            <a:ext cx="640080" cy="64008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4782" y="2394814"/>
            <a:ext cx="294437" cy="29443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041648" y="292608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 beiden Maschinen existiert </a:t>
            </a:r>
            <a:pPr algn="ctr" indent="0" marL="0">
              <a:buNone/>
            </a:pPr>
            <a:r>
              <a:rPr lang="en-US" sz="1300" b="1" dirty="0">
                <a:solidFill>
                  <a:srgbClr val="C2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einziger Pfeil</a:t>
            </a:r>
            <a:pPr algn="ctr" indent="0" marL="0">
              <a:buNone/>
            </a:pPr>
            <a:r>
              <a:rPr lang="en-US" sz="1300" dirty="0">
                <a:solidFill>
                  <a:srgbClr val="2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der User ist die einzige Verbindung.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F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in vier Schritten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307592"/>
            <a:ext cx="502920" cy="502920"/>
          </a:xfrm>
          <a:prstGeom prst="ellipse">
            <a:avLst/>
          </a:prstGeom>
          <a:solidFill>
            <a:srgbClr val="5F4B8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126187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&amp; Ordnerstruktur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8448" y="154533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Projects/-Ordner anlegen, Vorlagen aus _PROJECT_TEMPLATES/ manuell kopieren (cp / Copy-Item) — ein Deployment-Skript gibt es nicht.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194560"/>
            <a:ext cx="502920" cy="502920"/>
          </a:xfrm>
          <a:prstGeom prst="ellipse">
            <a:avLst/>
          </a:prstGeom>
          <a:solidFill>
            <a:srgbClr val="5F4B8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8448" y="21488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MCP-Server installieren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98448" y="243230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Filesystem-MCP (Pflicht) und Zotero-MCP (optional): Eintrag in claude_desktop_config.json ergänzen, Claude Desktop neu starten.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081528"/>
            <a:ext cx="502920" cy="502920"/>
          </a:xfrm>
          <a:prstGeom prst="ellipse">
            <a:avLst/>
          </a:prstGeom>
          <a:solidFill>
            <a:srgbClr val="5F4B8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8448" y="30358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Project anlegen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98448" y="331927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System-Prompt aus _CLAUDE_PROJECT_SYSTEM_PROMPT.md einfügen und alle [PLACEHOLDERS] ersetzen: Vault-Pfad, Projektname, Zotero-Collection.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968496"/>
            <a:ext cx="502920" cy="502920"/>
          </a:xfrm>
          <a:prstGeom prst="ellipse">
            <a:avLst/>
          </a:prstGeom>
          <a:solidFill>
            <a:srgbClr val="5F4B8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39227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Session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98448" y="42062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Brainstormen; Auto-Pull beantwortet Statusfragen. Bei Bedarf /push — am Ende den Next-Chat-Starter in die nächste Session kopieren.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F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DR.-PROMPTS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Rollen für Sessions ohne Vault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874520" cy="2514600"/>
          </a:xfrm>
          <a:prstGeom prst="roundRect">
            <a:avLst>
              <a:gd name="adj" fmla="val 3415"/>
            </a:avLst>
          </a:prstGeom>
          <a:solidFill>
            <a:srgbClr val="FBFAFD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81328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604772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0848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Dr_EveryDay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395728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Alltagsfragen mit harter Source-Verification und Anti-Halluzinations-Regeln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06040" y="1280160"/>
            <a:ext cx="1874520" cy="2514600"/>
          </a:xfrm>
          <a:prstGeom prst="roundRect">
            <a:avLst>
              <a:gd name="adj" fmla="val 3415"/>
            </a:avLst>
          </a:prstGeom>
          <a:solidFill>
            <a:srgbClr val="FBFAFD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88920" y="1481328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364" y="1604772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20848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Dr_Code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88920" y="2395728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Programmier-Assistent: vollständige Dateien, Doxygen-Doku, sauberer Stil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63440" y="1280160"/>
            <a:ext cx="1874520" cy="2514600"/>
          </a:xfrm>
          <a:prstGeom prst="roundRect">
            <a:avLst>
              <a:gd name="adj" fmla="val 3415"/>
            </a:avLst>
          </a:prstGeom>
          <a:solidFill>
            <a:srgbClr val="FBFAFD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46320" y="1481328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764" y="1604772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6320" y="20848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Dr_Analyse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46320" y="2395728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 und Kommunikations-Optimierung mit psychologischer Analyse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720840" y="1280160"/>
            <a:ext cx="1874520" cy="2514600"/>
          </a:xfrm>
          <a:prstGeom prst="roundRect">
            <a:avLst>
              <a:gd name="adj" fmla="val 3415"/>
            </a:avLst>
          </a:prstGeom>
          <a:solidFill>
            <a:srgbClr val="FBFAFD"/>
          </a:solidFill>
          <a:ln/>
          <a:effectLst>
            <a:outerShdw sx="100000" sy="100000" kx="0" ky="0" algn="bl" rotWithShape="0" blurRad="88900" dist="25400" dir="2700000">
              <a:srgbClr val="1A1426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03720" y="1481328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164" y="1604772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20848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Dr_Mail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903720" y="2395728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 und formelle E-Mails: kurz, präzise, ohne Erfindung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Verwendung: Inhalt aus Prompts/ kopieren, in ein Claude Project einfügen — funktioniert unabhängig von Vault und MCP.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F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ABGRENZUNG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das Template heute bewusst nicht macht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289304"/>
            <a:ext cx="384048" cy="384048"/>
          </a:xfrm>
          <a:prstGeom prst="ellipse">
            <a:avLst/>
          </a:prstGeom>
          <a:solidFill>
            <a:srgbClr val="F9ECE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394460"/>
            <a:ext cx="173736" cy="173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261872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Wiki-Schiene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70432" y="15179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og-wiki-Repo, kein /wiki-realign — nur Vision in ReadMe_Future.md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94360" y="1984248"/>
            <a:ext cx="384048" cy="384048"/>
          </a:xfrm>
          <a:prstGeom prst="ellipse">
            <a:avLst/>
          </a:prstGeom>
          <a:solidFill>
            <a:srgbClr val="F9ECE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089404"/>
            <a:ext cx="173736" cy="1737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1956816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Auto-Deployment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70432" y="22128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Vorlagen werden manuell in den Vault kopiert, ein Skript existiert nicht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594360" y="2679192"/>
            <a:ext cx="384048" cy="384048"/>
          </a:xfrm>
          <a:prstGeom prst="ellipse">
            <a:avLst/>
          </a:prstGeom>
          <a:solidFill>
            <a:srgbClr val="F9ECE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2784348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2651760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DevContainer-Integration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70432" y="29077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im Container hat weder Vault-Zugriff noch MCP-Server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594360" y="3374136"/>
            <a:ext cx="384048" cy="384048"/>
          </a:xfrm>
          <a:prstGeom prst="ellipse">
            <a:avLst/>
          </a:prstGeom>
          <a:solidFill>
            <a:srgbClr val="F9ECE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3479292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70432" y="3346704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Push Obsidian → Zotero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70432" y="36027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/sync zieht nur in eine Richtung — Adds laufen über zotero_add_by_doi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594360" y="4069080"/>
            <a:ext cx="384048" cy="384048"/>
          </a:xfrm>
          <a:prstGeom prst="ellipse">
            <a:avLst/>
          </a:prstGeom>
          <a:solidFill>
            <a:srgbClr val="F9ECE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4174236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70432" y="4041648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Auto-Trigger für /push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170432" y="42976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D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Konsolidierung passiert nur, wenn der User sie explizit anstößt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9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PRINZIP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61872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= working directory.</a:t>
            </a:r>
            <a:endParaRPr lang="en-US" sz="2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Vault = repository.</a:t>
            </a:r>
            <a:endParaRPr lang="en-US" sz="2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30428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09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/push</a:t>
            </a:r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der kontrollierte Übergang.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364388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4041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— aktueller, real funktionierender Stand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0" y="3520440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164" y="364388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74720" y="4041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_PROJECT_TEMPLATES/Setup_Guide.md + Setup_Connectors_Windows.md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309360" y="3520440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04" y="364388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09360" y="4041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ReadMe_Future.md — Wiki-Schiene als Vision, nicht gebaut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Research Template</dc:title>
  <dc:subject>PptxGenJS Presentation</dc:subject>
  <dc:creator>Christian Heinzmann</dc:creator>
  <cp:lastModifiedBy>Christian Heinzmann</cp:lastModifiedBy>
  <cp:revision>1</cp:revision>
  <dcterms:created xsi:type="dcterms:W3CDTF">2026-06-10T09:29:47Z</dcterms:created>
  <dcterms:modified xsi:type="dcterms:W3CDTF">2026-06-10T09:29:47Z</dcterms:modified>
</cp:coreProperties>
</file>