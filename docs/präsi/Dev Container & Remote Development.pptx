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50">
          <p15:clr>
            <a:srgbClr val="A4A3A4"/>
          </p15:clr>
        </p15:guide>
        <p15:guide id="2" pos="7423">
          <p15:clr>
            <a:srgbClr val="A4A3A4"/>
          </p15:clr>
        </p15:guide>
        <p15:guide id="3" orient="horz" pos="1361">
          <p15:clr>
            <a:srgbClr val="A4A3A4"/>
          </p15:clr>
        </p15:guide>
        <p15:guide id="4" orient="horz" pos="3932">
          <p15:clr>
            <a:srgbClr val="A4A3A4"/>
          </p15:clr>
        </p15:guide>
        <p15:guide id="5" orient="horz" pos="1194">
          <p15:clr>
            <a:srgbClr val="A4A3A4"/>
          </p15:clr>
        </p15:guide>
        <p15:guide id="6" pos="2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50" orient="horz"/>
        <p:guide pos="7423"/>
        <p:guide pos="1361" orient="horz"/>
        <p:guide pos="3932" orient="horz"/>
        <p:guide pos="1194" orient="horz"/>
        <p:guide pos="2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19285b83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519285b83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19285b834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519285b834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19285b834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519285b834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19285b834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519285b834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19285b83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519285b83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19285b834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519285b834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19285b834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519285b834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519285b834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519285b834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19285b834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519285b834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19285b834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519285b834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19285b834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519285b834_0_2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519285b834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519285b834_0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19285b834_0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519285b834_0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19285b834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519285b834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19285b834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519285b834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/Untertitel mit Bild" showMasterSp="0">
  <p:cSld name="Titel/Untertitel mit Bild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>
            <p:ph idx="2" type="pic"/>
          </p:nvPr>
        </p:nvSpPr>
        <p:spPr>
          <a:xfrm>
            <a:off x="0" y="1449388"/>
            <a:ext cx="12192000" cy="5408616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0" y="4176717"/>
            <a:ext cx="12192000" cy="268128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1386000" spcFirstLastPara="1" rIns="612000" wrap="square" tIns="626400">
            <a:noAutofit/>
          </a:bodyPr>
          <a:lstStyle>
            <a:lvl1pPr lv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1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1" type="ftr"/>
          </p:nvPr>
        </p:nvSpPr>
        <p:spPr>
          <a:xfrm>
            <a:off x="406401" y="6984001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2" type="sldNum"/>
          </p:nvPr>
        </p:nvSpPr>
        <p:spPr>
          <a:xfrm>
            <a:off x="9883778" y="6984001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"/>
          <p:cNvSpPr txBox="1"/>
          <p:nvPr>
            <p:ph idx="10" type="dt"/>
          </p:nvPr>
        </p:nvSpPr>
        <p:spPr>
          <a:xfrm>
            <a:off x="406401" y="260078"/>
            <a:ext cx="737529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None/>
              <a:defRPr sz="142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body"/>
          </p:nvPr>
        </p:nvSpPr>
        <p:spPr>
          <a:xfrm>
            <a:off x="1386000" y="5311011"/>
            <a:ext cx="10397484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3" type="body"/>
          </p:nvPr>
        </p:nvSpPr>
        <p:spPr>
          <a:xfrm>
            <a:off x="1386000" y="6372000"/>
            <a:ext cx="1039748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2"/>
          <p:cNvSpPr/>
          <p:nvPr/>
        </p:nvSpPr>
        <p:spPr>
          <a:xfrm>
            <a:off x="1152000" y="4904882"/>
            <a:ext cx="128211" cy="204934"/>
          </a:xfrm>
          <a:custGeom>
            <a:rect b="b" l="l" r="r" t="t"/>
            <a:pathLst>
              <a:path extrusionOk="0" h="120055" w="120174">
                <a:moveTo>
                  <a:pt x="0" y="0"/>
                </a:moveTo>
                <a:lnTo>
                  <a:pt x="58196" y="60618"/>
                </a:lnTo>
                <a:lnTo>
                  <a:pt x="0" y="120055"/>
                </a:lnTo>
                <a:lnTo>
                  <a:pt x="49460" y="120055"/>
                </a:lnTo>
                <a:lnTo>
                  <a:pt x="120173" y="60618"/>
                </a:lnTo>
                <a:lnTo>
                  <a:pt x="494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3084" y="305319"/>
            <a:ext cx="1940400" cy="90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2"/>
          <p:cNvGrpSpPr/>
          <p:nvPr/>
        </p:nvGrpSpPr>
        <p:grpSpPr>
          <a:xfrm>
            <a:off x="406398" y="-468000"/>
            <a:ext cx="14521602" cy="1980001"/>
            <a:chOff x="304800" y="-468001"/>
            <a:chExt cx="10891200" cy="1980001"/>
          </a:xfrm>
        </p:grpSpPr>
        <p:sp>
          <p:nvSpPr>
            <p:cNvPr id="40" name="Google Shape;40;p2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42" name="Google Shape;42;p2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43" name="Google Shape;43;p2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631">
          <p15:clr>
            <a:srgbClr val="FBAE40"/>
          </p15:clr>
        </p15:guide>
        <p15:guide id="2" orient="horz" pos="91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mit Bild" showMasterSp="0">
  <p:cSld name="Titel mit Bild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>
            <p:ph idx="2" type="pic"/>
          </p:nvPr>
        </p:nvSpPr>
        <p:spPr>
          <a:xfrm>
            <a:off x="0" y="1449388"/>
            <a:ext cx="12192000" cy="5408616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type="ctrTitle"/>
          </p:nvPr>
        </p:nvSpPr>
        <p:spPr>
          <a:xfrm>
            <a:off x="0" y="4176717"/>
            <a:ext cx="12192000" cy="268128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1386000" spcFirstLastPara="1" rIns="612000" wrap="square" tIns="626400">
            <a:noAutofit/>
          </a:bodyPr>
          <a:lstStyle>
            <a:lvl1pPr lv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30"/>
              <a:buNone/>
              <a:defRPr sz="503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0" type="dt"/>
          </p:nvPr>
        </p:nvSpPr>
        <p:spPr>
          <a:xfrm>
            <a:off x="406401" y="260078"/>
            <a:ext cx="737529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None/>
              <a:defRPr sz="142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1" type="ftr"/>
          </p:nvPr>
        </p:nvSpPr>
        <p:spPr>
          <a:xfrm>
            <a:off x="1386000" y="6372000"/>
            <a:ext cx="10398013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/>
          <p:nvPr/>
        </p:nvSpPr>
        <p:spPr>
          <a:xfrm>
            <a:off x="1026073" y="4914407"/>
            <a:ext cx="180261" cy="288132"/>
          </a:xfrm>
          <a:custGeom>
            <a:rect b="b" l="l" r="r" t="t"/>
            <a:pathLst>
              <a:path extrusionOk="0" h="120055" w="120174">
                <a:moveTo>
                  <a:pt x="0" y="0"/>
                </a:moveTo>
                <a:lnTo>
                  <a:pt x="58196" y="60618"/>
                </a:lnTo>
                <a:lnTo>
                  <a:pt x="0" y="120055"/>
                </a:lnTo>
                <a:lnTo>
                  <a:pt x="49460" y="120055"/>
                </a:lnTo>
                <a:lnTo>
                  <a:pt x="120173" y="60618"/>
                </a:lnTo>
                <a:lnTo>
                  <a:pt x="494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9883778" y="6984000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3084" y="305319"/>
            <a:ext cx="1940400" cy="90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3"/>
          <p:cNvGrpSpPr/>
          <p:nvPr/>
        </p:nvGrpSpPr>
        <p:grpSpPr>
          <a:xfrm>
            <a:off x="406397" y="-468000"/>
            <a:ext cx="14521603" cy="7668001"/>
            <a:chOff x="304799" y="-468001"/>
            <a:chExt cx="10891201" cy="7668001"/>
          </a:xfrm>
        </p:grpSpPr>
        <p:sp>
          <p:nvSpPr>
            <p:cNvPr id="53" name="Google Shape;53;p3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55" name="Google Shape;55;p3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56" name="Google Shape;56;p3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631">
          <p15:clr>
            <a:srgbClr val="FBAE40"/>
          </p15:clr>
        </p15:guide>
        <p15:guide id="2" orient="horz" pos="91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mit Bild INSTITUTS-LOGO" showMasterSp="0">
  <p:cSld name="Titel mit Bild INSTITUTS-LOGO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>
            <p:ph idx="2" type="pic"/>
          </p:nvPr>
        </p:nvSpPr>
        <p:spPr>
          <a:xfrm>
            <a:off x="0" y="1449388"/>
            <a:ext cx="12192000" cy="5408616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4"/>
          <p:cNvSpPr txBox="1"/>
          <p:nvPr>
            <p:ph type="ctrTitle"/>
          </p:nvPr>
        </p:nvSpPr>
        <p:spPr>
          <a:xfrm>
            <a:off x="0" y="4176717"/>
            <a:ext cx="12192000" cy="268128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1386000" spcFirstLastPara="1" rIns="612000" wrap="square" tIns="626400">
            <a:noAutofit/>
          </a:bodyPr>
          <a:lstStyle>
            <a:lvl1pPr lv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30"/>
              <a:buNone/>
              <a:defRPr sz="503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"/>
          <p:cNvSpPr txBox="1"/>
          <p:nvPr>
            <p:ph idx="10" type="dt"/>
          </p:nvPr>
        </p:nvSpPr>
        <p:spPr>
          <a:xfrm>
            <a:off x="406401" y="-359999"/>
            <a:ext cx="737529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None/>
              <a:defRPr sz="142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"/>
          <p:cNvSpPr txBox="1"/>
          <p:nvPr>
            <p:ph idx="11" type="ftr"/>
          </p:nvPr>
        </p:nvSpPr>
        <p:spPr>
          <a:xfrm>
            <a:off x="1386000" y="6372000"/>
            <a:ext cx="10397484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"/>
          <p:cNvSpPr/>
          <p:nvPr/>
        </p:nvSpPr>
        <p:spPr>
          <a:xfrm>
            <a:off x="1026000" y="4914406"/>
            <a:ext cx="180261" cy="288132"/>
          </a:xfrm>
          <a:custGeom>
            <a:rect b="b" l="l" r="r" t="t"/>
            <a:pathLst>
              <a:path extrusionOk="0" h="120055" w="120174">
                <a:moveTo>
                  <a:pt x="0" y="0"/>
                </a:moveTo>
                <a:lnTo>
                  <a:pt x="58196" y="60618"/>
                </a:lnTo>
                <a:lnTo>
                  <a:pt x="0" y="120055"/>
                </a:lnTo>
                <a:lnTo>
                  <a:pt x="49460" y="120055"/>
                </a:lnTo>
                <a:lnTo>
                  <a:pt x="120173" y="60618"/>
                </a:lnTo>
                <a:lnTo>
                  <a:pt x="494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>
            <p:ph idx="1" type="body"/>
          </p:nvPr>
        </p:nvSpPr>
        <p:spPr>
          <a:xfrm>
            <a:off x="407200" y="305319"/>
            <a:ext cx="20880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4"/>
          <p:cNvSpPr txBox="1"/>
          <p:nvPr>
            <p:ph idx="3" type="body"/>
          </p:nvPr>
        </p:nvSpPr>
        <p:spPr>
          <a:xfrm>
            <a:off x="2622400" y="304709"/>
            <a:ext cx="20880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4"/>
          <p:cNvSpPr txBox="1"/>
          <p:nvPr>
            <p:ph idx="12" type="sldNum"/>
          </p:nvPr>
        </p:nvSpPr>
        <p:spPr>
          <a:xfrm>
            <a:off x="9883778" y="6984000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" name="Google Shape;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3084" y="305319"/>
            <a:ext cx="1940400" cy="90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4"/>
          <p:cNvGrpSpPr/>
          <p:nvPr/>
        </p:nvGrpSpPr>
        <p:grpSpPr>
          <a:xfrm>
            <a:off x="406397" y="-467999"/>
            <a:ext cx="14521603" cy="7668000"/>
            <a:chOff x="304799" y="-468000"/>
            <a:chExt cx="10891201" cy="7668000"/>
          </a:xfrm>
        </p:grpSpPr>
        <p:sp>
          <p:nvSpPr>
            <p:cNvPr id="69" name="Google Shape;69;p4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71" name="Google Shape;71;p4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72" name="Google Shape;72;p4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631">
          <p15:clr>
            <a:srgbClr val="FBAE40"/>
          </p15:clr>
        </p15:guide>
        <p15:guide id="2" orient="horz" pos="91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>
  <p:cSld name="Titelfoli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 txBox="1"/>
          <p:nvPr>
            <p:ph type="ctrTitle"/>
          </p:nvPr>
        </p:nvSpPr>
        <p:spPr>
          <a:xfrm>
            <a:off x="727085" y="3768205"/>
            <a:ext cx="11056403" cy="15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1"/>
              <a:buNone/>
              <a:defRPr sz="520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"/>
          <p:cNvSpPr txBox="1"/>
          <p:nvPr>
            <p:ph idx="10" type="dt"/>
          </p:nvPr>
        </p:nvSpPr>
        <p:spPr>
          <a:xfrm>
            <a:off x="406401" y="260078"/>
            <a:ext cx="737529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0"/>
              <a:buNone/>
              <a:defRPr sz="142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idx="11" type="ftr"/>
          </p:nvPr>
        </p:nvSpPr>
        <p:spPr>
          <a:xfrm>
            <a:off x="727081" y="5399999"/>
            <a:ext cx="11056403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800" y="3943332"/>
            <a:ext cx="180000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>
            <p:ph idx="12" type="sldNum"/>
          </p:nvPr>
        </p:nvSpPr>
        <p:spPr>
          <a:xfrm>
            <a:off x="9883778" y="6984000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3192" y="305318"/>
            <a:ext cx="1940297" cy="9019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5"/>
          <p:cNvGrpSpPr/>
          <p:nvPr/>
        </p:nvGrpSpPr>
        <p:grpSpPr>
          <a:xfrm>
            <a:off x="406397" y="-468000"/>
            <a:ext cx="14521603" cy="7668001"/>
            <a:chOff x="304799" y="-468001"/>
            <a:chExt cx="10891201" cy="7668001"/>
          </a:xfrm>
        </p:grpSpPr>
        <p:sp>
          <p:nvSpPr>
            <p:cNvPr id="82" name="Google Shape;82;p5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84" name="Google Shape;84;p5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  <p:sp>
          <p:nvSpPr>
            <p:cNvPr id="86" name="Google Shape;86;p5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titel" showMasterSp="0">
  <p:cSld name="Zwischentitel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6"/>
          <p:cNvPicPr preferRelativeResize="0"/>
          <p:nvPr/>
        </p:nvPicPr>
        <p:blipFill rotWithShape="1">
          <a:blip r:embed="rId2">
            <a:alphaModFix/>
          </a:blip>
          <a:srcRect b="0" l="0" r="0" t="14167"/>
          <a:stretch/>
        </p:blipFill>
        <p:spPr>
          <a:xfrm>
            <a:off x="0" y="1098550"/>
            <a:ext cx="12192000" cy="57594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 txBox="1"/>
          <p:nvPr>
            <p:ph type="ctrTitle"/>
          </p:nvPr>
        </p:nvSpPr>
        <p:spPr>
          <a:xfrm>
            <a:off x="1530728" y="2160001"/>
            <a:ext cx="10252761" cy="15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6"/>
          <p:cNvSpPr txBox="1"/>
          <p:nvPr>
            <p:ph idx="1" type="body"/>
          </p:nvPr>
        </p:nvSpPr>
        <p:spPr>
          <a:xfrm>
            <a:off x="1530728" y="3905249"/>
            <a:ext cx="10252761" cy="233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6000" y="2376000"/>
            <a:ext cx="180000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0183" y="307131"/>
            <a:ext cx="1333301" cy="6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6"/>
          <p:cNvGrpSpPr/>
          <p:nvPr/>
        </p:nvGrpSpPr>
        <p:grpSpPr>
          <a:xfrm>
            <a:off x="406397" y="-468000"/>
            <a:ext cx="14521603" cy="7668001"/>
            <a:chOff x="304799" y="-468001"/>
            <a:chExt cx="10891201" cy="7668001"/>
          </a:xfrm>
        </p:grpSpPr>
        <p:sp>
          <p:nvSpPr>
            <p:cNvPr id="97" name="Google Shape;97;p6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99" name="Google Shape;99;p6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100" name="Google Shape;100;p6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  <p:sp>
          <p:nvSpPr>
            <p:cNvPr id="101" name="Google Shape;101;p6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// Inhalt">
  <p:cSld name="Headline // Inhal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7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406405" y="2160589"/>
            <a:ext cx="11377084" cy="4083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// Inhalt // 3 Bilder">
  <p:cSld name="Headline // Inhalt // 3 Bil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8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8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406405" y="2160588"/>
            <a:ext cx="11377084" cy="2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  <p:sp>
        <p:nvSpPr>
          <p:cNvPr id="114" name="Google Shape;114;p8"/>
          <p:cNvSpPr/>
          <p:nvPr>
            <p:ph idx="2" type="pic"/>
          </p:nvPr>
        </p:nvSpPr>
        <p:spPr>
          <a:xfrm>
            <a:off x="406400" y="4361763"/>
            <a:ext cx="3658080" cy="1881877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8"/>
          <p:cNvSpPr/>
          <p:nvPr>
            <p:ph idx="3" type="pic"/>
          </p:nvPr>
        </p:nvSpPr>
        <p:spPr>
          <a:xfrm>
            <a:off x="4265901" y="4361763"/>
            <a:ext cx="3658080" cy="1881877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8"/>
          <p:cNvSpPr/>
          <p:nvPr>
            <p:ph idx="4" type="pic"/>
          </p:nvPr>
        </p:nvSpPr>
        <p:spPr>
          <a:xfrm>
            <a:off x="8125404" y="4361763"/>
            <a:ext cx="3658080" cy="188187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// Inhalt // Bild">
  <p:cSld name="Headline // Inhalt // Bild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9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9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9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406400" y="2160588"/>
            <a:ext cx="7128933" cy="408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  <p:sp>
        <p:nvSpPr>
          <p:cNvPr id="123" name="Google Shape;123;p9"/>
          <p:cNvSpPr/>
          <p:nvPr>
            <p:ph idx="2" type="pic"/>
          </p:nvPr>
        </p:nvSpPr>
        <p:spPr>
          <a:xfrm>
            <a:off x="7920569" y="2221920"/>
            <a:ext cx="3862920" cy="395980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747">
          <p15:clr>
            <a:srgbClr val="FBAE40"/>
          </p15:clr>
        </p15:guide>
        <p15:guide id="2" pos="4989">
          <p15:clr>
            <a:srgbClr val="FBAE40"/>
          </p15:clr>
        </p15:guide>
        <p15:guide id="3" orient="horz" pos="389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itat" showMasterSp="0">
  <p:cSld name="Zita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>
            <p:ph idx="2" type="pic"/>
          </p:nvPr>
        </p:nvSpPr>
        <p:spPr>
          <a:xfrm>
            <a:off x="5" y="1098550"/>
            <a:ext cx="12191999" cy="575945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0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0"/>
          <p:cNvSpPr txBox="1"/>
          <p:nvPr>
            <p:ph idx="1" type="body"/>
          </p:nvPr>
        </p:nvSpPr>
        <p:spPr>
          <a:xfrm>
            <a:off x="0" y="1098550"/>
            <a:ext cx="12192000" cy="575945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1954800" spcFirstLastPara="1" rIns="1501200" wrap="square" tIns="126000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b="1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SzPts val="1500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0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0" y="1368000"/>
            <a:ext cx="1390678" cy="1125430"/>
          </a:xfrm>
          <a:custGeom>
            <a:rect b="b" l="l" r="r" t="t"/>
            <a:pathLst>
              <a:path extrusionOk="0" h="121014" w="120405">
                <a:moveTo>
                  <a:pt x="37170" y="0"/>
                </a:moveTo>
                <a:cubicBezTo>
                  <a:pt x="27652" y="4250"/>
                  <a:pt x="19813" y="10097"/>
                  <a:pt x="13686" y="17505"/>
                </a:cubicBezTo>
                <a:cubicBezTo>
                  <a:pt x="7527" y="24951"/>
                  <a:pt x="3328" y="33333"/>
                  <a:pt x="1058" y="42690"/>
                </a:cubicBezTo>
                <a:cubicBezTo>
                  <a:pt x="653" y="44250"/>
                  <a:pt x="311" y="45926"/>
                  <a:pt x="0" y="47680"/>
                </a:cubicBezTo>
                <a:lnTo>
                  <a:pt x="0" y="121014"/>
                </a:lnTo>
                <a:lnTo>
                  <a:pt x="42271" y="121014"/>
                </a:lnTo>
                <a:lnTo>
                  <a:pt x="42271" y="65107"/>
                </a:lnTo>
                <a:lnTo>
                  <a:pt x="20653" y="65107"/>
                </a:lnTo>
                <a:cubicBezTo>
                  <a:pt x="20871" y="54074"/>
                  <a:pt x="22924" y="45263"/>
                  <a:pt x="26781" y="38635"/>
                </a:cubicBezTo>
                <a:cubicBezTo>
                  <a:pt x="30638" y="31969"/>
                  <a:pt x="37014" y="26823"/>
                  <a:pt x="45910" y="23080"/>
                </a:cubicBezTo>
                <a:lnTo>
                  <a:pt x="37170" y="0"/>
                </a:lnTo>
                <a:close/>
                <a:moveTo>
                  <a:pt x="111664" y="0"/>
                </a:moveTo>
                <a:cubicBezTo>
                  <a:pt x="102240" y="4250"/>
                  <a:pt x="94432" y="10097"/>
                  <a:pt x="88243" y="17505"/>
                </a:cubicBezTo>
                <a:cubicBezTo>
                  <a:pt x="82053" y="24951"/>
                  <a:pt x="77823" y="33294"/>
                  <a:pt x="75521" y="42612"/>
                </a:cubicBezTo>
                <a:cubicBezTo>
                  <a:pt x="73250" y="51891"/>
                  <a:pt x="72131" y="64678"/>
                  <a:pt x="72131" y="81014"/>
                </a:cubicBezTo>
                <a:lnTo>
                  <a:pt x="72131" y="121014"/>
                </a:lnTo>
                <a:lnTo>
                  <a:pt x="116734" y="121014"/>
                </a:lnTo>
                <a:lnTo>
                  <a:pt x="116734" y="65107"/>
                </a:lnTo>
                <a:lnTo>
                  <a:pt x="95148" y="65107"/>
                </a:lnTo>
                <a:cubicBezTo>
                  <a:pt x="95366" y="54074"/>
                  <a:pt x="97387" y="45263"/>
                  <a:pt x="101275" y="38635"/>
                </a:cubicBezTo>
                <a:cubicBezTo>
                  <a:pt x="105132" y="31969"/>
                  <a:pt x="111509" y="26823"/>
                  <a:pt x="120404" y="23080"/>
                </a:cubicBezTo>
                <a:lnTo>
                  <a:pt x="11166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183" y="307131"/>
            <a:ext cx="1333301" cy="6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0"/>
          <p:cNvGrpSpPr/>
          <p:nvPr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33" name="Google Shape;133;p10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0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135" name="Google Shape;135;p10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136" name="Google Shape;136;p10"/>
            <p:cNvSpPr txBox="1"/>
            <p:nvPr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Increase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Level</a:t>
              </a:r>
              <a:endParaRPr/>
            </a:p>
          </p:txBody>
        </p:sp>
        <p:sp>
          <p:nvSpPr>
            <p:cNvPr id="137" name="Google Shape;137;p10"/>
            <p:cNvSpPr txBox="1"/>
            <p:nvPr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Decrease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Level</a:t>
              </a:r>
              <a:endParaRPr/>
            </a:p>
          </p:txBody>
        </p:sp>
        <p:sp>
          <p:nvSpPr>
            <p:cNvPr id="138" name="Google Shape;138;p10"/>
            <p:cNvSpPr txBox="1"/>
            <p:nvPr/>
          </p:nvSpPr>
          <p:spPr>
            <a:xfrm>
              <a:off x="-1690413" y="2124000"/>
              <a:ext cx="1584000" cy="7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text level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 </a:t>
              </a:r>
              <a:b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Paragraph &gt; Increase/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Decrease List Level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9" name="Google Shape;13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0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  <p:sp>
          <p:nvSpPr>
            <p:cNvPr id="142" name="Google Shape;142;p10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// Info // 2 Inhalte">
  <p:cSld name="Headline // Info // 2 Inhalt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1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1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11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406400" y="2160588"/>
            <a:ext cx="11377089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2" type="body"/>
          </p:nvPr>
        </p:nvSpPr>
        <p:spPr>
          <a:xfrm>
            <a:off x="406397" y="2689225"/>
            <a:ext cx="5592527" cy="3554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  <p:sp>
        <p:nvSpPr>
          <p:cNvPr id="150" name="Google Shape;150;p11"/>
          <p:cNvSpPr txBox="1"/>
          <p:nvPr>
            <p:ph idx="3" type="body"/>
          </p:nvPr>
        </p:nvSpPr>
        <p:spPr>
          <a:xfrm>
            <a:off x="6192002" y="2689225"/>
            <a:ext cx="5591487" cy="3554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9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// Info // Inhalt">
  <p:cSld name="Headline // Info // Inhal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2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2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12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2"/>
          <p:cNvSpPr txBox="1"/>
          <p:nvPr>
            <p:ph idx="1" type="body"/>
          </p:nvPr>
        </p:nvSpPr>
        <p:spPr>
          <a:xfrm>
            <a:off x="406394" y="2160588"/>
            <a:ext cx="11377092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12"/>
          <p:cNvSpPr txBox="1"/>
          <p:nvPr>
            <p:ph idx="2" type="body"/>
          </p:nvPr>
        </p:nvSpPr>
        <p:spPr>
          <a:xfrm>
            <a:off x="406405" y="2690813"/>
            <a:ext cx="11377084" cy="3552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lussfolie">
  <p:cSld name="Schlussfolie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3"/>
          <p:cNvPicPr preferRelativeResize="0"/>
          <p:nvPr/>
        </p:nvPicPr>
        <p:blipFill rotWithShape="1">
          <a:blip r:embed="rId2">
            <a:alphaModFix/>
          </a:blip>
          <a:srcRect b="0" l="0" r="0" t="14167"/>
          <a:stretch/>
        </p:blipFill>
        <p:spPr>
          <a:xfrm>
            <a:off x="0" y="1098550"/>
            <a:ext cx="12192000" cy="575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3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3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2088000" y="4284000"/>
            <a:ext cx="9695489" cy="1959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0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13"/>
          <p:cNvSpPr txBox="1"/>
          <p:nvPr>
            <p:ph idx="2" type="body"/>
          </p:nvPr>
        </p:nvSpPr>
        <p:spPr>
          <a:xfrm>
            <a:off x="2087996" y="2160588"/>
            <a:ext cx="9695489" cy="1851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13"/>
          <p:cNvSpPr/>
          <p:nvPr>
            <p:ph idx="3" type="pic"/>
          </p:nvPr>
        </p:nvSpPr>
        <p:spPr>
          <a:xfrm>
            <a:off x="576000" y="4716000"/>
            <a:ext cx="1080000" cy="10800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4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4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4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1" name="Google Shape;11;p1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13" name="Google Shape;13;p1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14" name="Google Shape;14;p1"/>
            <p:cNvSpPr txBox="1"/>
            <p:nvPr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Increase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Level</a:t>
              </a:r>
              <a:endParaRPr/>
            </a:p>
          </p:txBody>
        </p:sp>
        <p:sp>
          <p:nvSpPr>
            <p:cNvPr id="15" name="Google Shape;15;p1"/>
            <p:cNvSpPr txBox="1"/>
            <p:nvPr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Decrease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Level</a:t>
              </a:r>
              <a:endParaRPr/>
            </a:p>
          </p:txBody>
        </p:sp>
        <p:sp>
          <p:nvSpPr>
            <p:cNvPr id="16" name="Google Shape;16;p1"/>
            <p:cNvSpPr txBox="1"/>
            <p:nvPr/>
          </p:nvSpPr>
          <p:spPr>
            <a:xfrm>
              <a:off x="-1690413" y="2124000"/>
              <a:ext cx="1584000" cy="7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text level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 </a:t>
              </a:r>
              <a:b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Paragraph &gt; Increase/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Decrease List Level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  <p:sp>
          <p:nvSpPr>
            <p:cNvPr id="20" name="Google Shape;20;p1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  <p:cxnSp>
        <p:nvCxnSpPr>
          <p:cNvPr id="21" name="Google Shape;21;p1"/>
          <p:cNvCxnSpPr/>
          <p:nvPr/>
        </p:nvCxnSpPr>
        <p:spPr>
          <a:xfrm>
            <a:off x="406399" y="6449759"/>
            <a:ext cx="11376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406400" y="1944000"/>
            <a:ext cx="11376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1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1"/>
          <p:cNvSpPr txBox="1"/>
          <p:nvPr>
            <p:ph idx="1" type="body"/>
          </p:nvPr>
        </p:nvSpPr>
        <p:spPr>
          <a:xfrm>
            <a:off x="406400" y="2160588"/>
            <a:ext cx="11377086" cy="4081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Font typeface="Arial"/>
              <a:buNone/>
              <a:defRPr b="0" i="0" sz="2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63" lvl="1" marL="914400" marR="0" rtl="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Clr>
                <a:schemeClr val="accent1"/>
              </a:buClr>
              <a:buSzPts val="2201"/>
              <a:buFont typeface="Arial"/>
              <a:buChar char="&gt;"/>
              <a:defRPr b="0" i="0" sz="2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Font typeface="Arial"/>
              <a:buNone/>
              <a:defRPr b="0" i="0" sz="1999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1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536" lvl="4" marL="22860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Font typeface="Arial"/>
              <a:buChar char="&gt;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536" lvl="5" marL="2743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Noto Sans Symbols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536" lvl="6" marL="32004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AutoNum type="arabicPeriod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183" y="307131"/>
            <a:ext cx="1333301" cy="6192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F26B43"/>
          </p15:clr>
        </p15:guide>
        <p15:guide id="2" pos="7423">
          <p15:clr>
            <a:srgbClr val="F26B43"/>
          </p15:clr>
        </p15:guide>
        <p15:guide id="3" orient="horz" pos="1361">
          <p15:clr>
            <a:srgbClr val="F26B43"/>
          </p15:clr>
        </p15:guide>
        <p15:guide id="4" orient="horz" pos="650">
          <p15:clr>
            <a:srgbClr val="F26B43"/>
          </p15:clr>
        </p15:guide>
        <p15:guide id="5" orient="horz" pos="1194">
          <p15:clr>
            <a:srgbClr val="F26B43"/>
          </p15:clr>
        </p15:guide>
        <p15:guide id="6" orient="horz" pos="3932">
          <p15:clr>
            <a:srgbClr val="F26B43"/>
          </p15:clr>
        </p15:guide>
        <p15:guide id="7" orient="horz" pos="1400">
          <p15:clr>
            <a:srgbClr val="547EBF"/>
          </p15:clr>
        </p15:guide>
        <p15:guide id="8" orient="horz" pos="692">
          <p15:clr>
            <a:srgbClr val="547EB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ode.visualstudio.com/docs/devcontainers/containers" TargetMode="External"/><Relationship Id="rId4" Type="http://schemas.openxmlformats.org/officeDocument/2006/relationships/hyperlink" Target="https://www.altexsoft.com/blog/docker-pros-and-cons/" TargetMode="External"/><Relationship Id="rId5" Type="http://schemas.openxmlformats.org/officeDocument/2006/relationships/hyperlink" Target="https://www.docker.com/resources/what-container/" TargetMode="External"/><Relationship Id="rId6" Type="http://schemas.openxmlformats.org/officeDocument/2006/relationships/hyperlink" Target="https://cto.ai/blog/docker-image-vs-container-vs-dockerfi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2" l="0" r="0" t="43"/>
          <a:stretch/>
        </p:blipFill>
        <p:spPr>
          <a:xfrm>
            <a:off x="0" y="1449388"/>
            <a:ext cx="12192000" cy="540861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 txBox="1"/>
          <p:nvPr>
            <p:ph type="ctrTitle"/>
          </p:nvPr>
        </p:nvSpPr>
        <p:spPr>
          <a:xfrm>
            <a:off x="0" y="4176717"/>
            <a:ext cx="12192000" cy="26812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1386000" spcFirstLastPara="1" rIns="612000" wrap="square" tIns="626400">
            <a:noAutofit/>
          </a:bodyPr>
          <a:lstStyle/>
          <a:p>
            <a:pPr indent="0" lvl="0" marL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</a:pPr>
            <a:r>
              <a:rPr lang="en-US"/>
              <a:t>Remote SSH Development with Dev Container</a:t>
            </a:r>
            <a:endParaRPr/>
          </a:p>
        </p:txBody>
      </p:sp>
      <p:sp>
        <p:nvSpPr>
          <p:cNvPr id="177" name="Google Shape;177;p15"/>
          <p:cNvSpPr txBox="1"/>
          <p:nvPr>
            <p:ph idx="10" type="dt"/>
          </p:nvPr>
        </p:nvSpPr>
        <p:spPr>
          <a:xfrm>
            <a:off x="406401" y="-359999"/>
            <a:ext cx="737529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178" name="Google Shape;178;p15"/>
          <p:cNvSpPr txBox="1"/>
          <p:nvPr>
            <p:ph idx="11" type="ftr"/>
          </p:nvPr>
        </p:nvSpPr>
        <p:spPr>
          <a:xfrm>
            <a:off x="1386000" y="6372000"/>
            <a:ext cx="10397484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</a:t>
            </a:r>
            <a:r>
              <a:rPr lang="en-US"/>
              <a:t>r </a:t>
            </a:r>
            <a:r>
              <a:rPr lang="en-US"/>
              <a:t>| Christian Heinzmann | 2025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1026000" y="4914406"/>
            <a:ext cx="180261" cy="288132"/>
          </a:xfrm>
          <a:custGeom>
            <a:rect b="b" l="l" r="r" t="t"/>
            <a:pathLst>
              <a:path extrusionOk="0" h="120055" w="120174">
                <a:moveTo>
                  <a:pt x="0" y="0"/>
                </a:moveTo>
                <a:lnTo>
                  <a:pt x="58196" y="60618"/>
                </a:lnTo>
                <a:lnTo>
                  <a:pt x="0" y="120055"/>
                </a:lnTo>
                <a:lnTo>
                  <a:pt x="49460" y="120055"/>
                </a:lnTo>
                <a:lnTo>
                  <a:pt x="120173" y="60618"/>
                </a:lnTo>
                <a:lnTo>
                  <a:pt x="494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/>
          <p:cNvSpPr txBox="1"/>
          <p:nvPr>
            <p:ph idx="1" type="body"/>
          </p:nvPr>
        </p:nvSpPr>
        <p:spPr>
          <a:xfrm>
            <a:off x="407200" y="305319"/>
            <a:ext cx="20880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1" name="Google Shape;181;p15"/>
          <p:cNvSpPr txBox="1"/>
          <p:nvPr>
            <p:ph idx="3" type="body"/>
          </p:nvPr>
        </p:nvSpPr>
        <p:spPr>
          <a:xfrm>
            <a:off x="2622400" y="304709"/>
            <a:ext cx="20880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2" name="Google Shape;182;p15"/>
          <p:cNvSpPr txBox="1"/>
          <p:nvPr>
            <p:ph idx="12" type="sldNum"/>
          </p:nvPr>
        </p:nvSpPr>
        <p:spPr>
          <a:xfrm>
            <a:off x="9883778" y="6984000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>
            <p:ph type="ctrTitle"/>
          </p:nvPr>
        </p:nvSpPr>
        <p:spPr>
          <a:xfrm>
            <a:off x="1530728" y="2160001"/>
            <a:ext cx="10252761" cy="15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/>
              <a:t>Container</a:t>
            </a:r>
            <a:endParaRPr/>
          </a:p>
        </p:txBody>
      </p:sp>
      <p:sp>
        <p:nvSpPr>
          <p:cNvPr id="188" name="Google Shape;188;p16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189" name="Google Shape;189;p16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Remote Development with Dev Container | Christian Heinzmann | 2025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t/>
            </a:r>
            <a:endParaRPr b="1" sz="1300"/>
          </a:p>
        </p:txBody>
      </p:sp>
      <p:sp>
        <p:nvSpPr>
          <p:cNvPr id="190" name="Google Shape;190;p16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6"/>
          <p:cNvSpPr txBox="1"/>
          <p:nvPr>
            <p:ph idx="1" type="body"/>
          </p:nvPr>
        </p:nvSpPr>
        <p:spPr>
          <a:xfrm>
            <a:off x="1530728" y="3905249"/>
            <a:ext cx="10252761" cy="233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en-US"/>
              <a:t>Container vs Virtual </a:t>
            </a:r>
            <a:r>
              <a:rPr lang="en-US"/>
              <a:t>Machine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en-US"/>
              <a:t>Docker Container Image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en-US"/>
              <a:t>Docker Compose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en-US"/>
              <a:t>Dev Container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197" name="Google Shape;197;p17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Remote Development with Dev Container | Christian Heinzmann | 2025</a:t>
            </a:r>
            <a:endParaRPr/>
          </a:p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17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Container vs Virtual </a:t>
            </a:r>
            <a:r>
              <a:rPr lang="en-US"/>
              <a:t>Machines</a:t>
            </a:r>
            <a:endParaRPr/>
          </a:p>
        </p:txBody>
      </p:sp>
      <p:sp>
        <p:nvSpPr>
          <p:cNvPr id="200" name="Google Shape;200;p17"/>
          <p:cNvSpPr txBox="1"/>
          <p:nvPr>
            <p:ph idx="1" type="body"/>
          </p:nvPr>
        </p:nvSpPr>
        <p:spPr>
          <a:xfrm>
            <a:off x="406400" y="2160600"/>
            <a:ext cx="69432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7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2099"/>
              <a:t>Virtuelle Maschine:  	</a:t>
            </a:r>
            <a:endParaRPr sz="2099"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Emuliert komplette Hardware (z. B. CPU, RAM, Speicher)  Braucht ein eigenes Betriebssystem</a:t>
            </a:r>
            <a:endParaRPr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Schwergewicht</a:t>
            </a:r>
            <a:endParaRPr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Langsamere Startzeiten</a:t>
            </a:r>
            <a:endParaRPr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höherer Ressourcenverbrauch  </a:t>
            </a:r>
            <a:endParaRPr/>
          </a:p>
          <a:p>
            <a:pPr indent="0" lvl="0" marL="28800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2099"/>
              <a:t>Container:</a:t>
            </a:r>
            <a:endParaRPr b="1" sz="2099"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Teilen sich den Kernel des Host-Systems</a:t>
            </a:r>
            <a:endParaRPr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b="1" lang="en-US"/>
              <a:t>Nur Prozesse, Libraries und Abhängigkeiten werden isoliert</a:t>
            </a:r>
            <a:endParaRPr b="1"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Schnell, leichtgewichtig, einfacher skalierbar</a:t>
            </a:r>
            <a:endParaRPr/>
          </a:p>
        </p:txBody>
      </p:sp>
      <p:pic>
        <p:nvPicPr>
          <p:cNvPr id="201" name="Google Shape;201;p17" title="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9200" y="3565025"/>
            <a:ext cx="3864825" cy="309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 title="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0673" y="1031875"/>
            <a:ext cx="4503350" cy="2533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08" name="Google Shape;208;p18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Remote Development with Dev Container | Christian Heinzmann | 2025</a:t>
            </a:r>
            <a:endParaRPr/>
          </a:p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18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Docker Image and Container</a:t>
            </a:r>
            <a:endParaRPr/>
          </a:p>
        </p:txBody>
      </p:sp>
      <p:sp>
        <p:nvSpPr>
          <p:cNvPr id="211" name="Google Shape;211;p18"/>
          <p:cNvSpPr txBox="1"/>
          <p:nvPr>
            <p:ph idx="1" type="body"/>
          </p:nvPr>
        </p:nvSpPr>
        <p:spPr>
          <a:xfrm>
            <a:off x="406400" y="2160600"/>
            <a:ext cx="59136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</a:pPr>
            <a:r>
              <a:rPr lang="en-US"/>
              <a:t>Docker ist ein Tool zum </a:t>
            </a:r>
            <a:r>
              <a:rPr lang="en-US"/>
              <a:t>automatisierten</a:t>
            </a:r>
            <a:r>
              <a:rPr lang="en-US"/>
              <a:t> aufbau und starten von Containern </a:t>
            </a:r>
            <a:endParaRPr b="1"/>
          </a:p>
          <a:p>
            <a:pPr indent="0" lvl="7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/>
          </a:p>
          <a:p>
            <a:pPr indent="0" lvl="7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2099"/>
              <a:t>Docker File</a:t>
            </a:r>
            <a:r>
              <a:rPr b="1" lang="en-US" sz="2099"/>
              <a:t>:  </a:t>
            </a:r>
            <a:r>
              <a:rPr b="1" lang="en-US"/>
              <a:t>	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Script zum erstellen des Docker Images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Os, Software Pakete, Python Interpreter, usw. 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b="1" lang="en-US" sz="2050"/>
              <a:t>Docker Image: </a:t>
            </a:r>
            <a:r>
              <a:rPr b="1" lang="en-US"/>
              <a:t> 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Fertige Vorlage die Gestartet werden kann</a:t>
            </a:r>
            <a:endParaRPr/>
          </a:p>
          <a:p>
            <a:pPr indent="0" lvl="7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2050"/>
              <a:t>Docker </a:t>
            </a:r>
            <a:r>
              <a:rPr b="1" lang="en-US" sz="2050"/>
              <a:t>Container:</a:t>
            </a:r>
            <a:endParaRPr b="1" sz="2050"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Isolierte Umgebung (light weight OS)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die wird wirklich ausgeführt</a:t>
            </a:r>
            <a:endParaRPr/>
          </a:p>
        </p:txBody>
      </p:sp>
      <p:pic>
        <p:nvPicPr>
          <p:cNvPr id="212" name="Google Shape;212;p18" title="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1725" y="1957875"/>
            <a:ext cx="5552301" cy="274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18" name="Google Shape;218;p19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Remote Development with Dev Container | Christian Heinzmann | 2025</a:t>
            </a:r>
            <a:endParaRPr/>
          </a:p>
        </p:txBody>
      </p:sp>
      <p:sp>
        <p:nvSpPr>
          <p:cNvPr id="219" name="Google Shape;219;p19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19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Docker Compose</a:t>
            </a:r>
            <a:endParaRPr/>
          </a:p>
        </p:txBody>
      </p:sp>
      <p:sp>
        <p:nvSpPr>
          <p:cNvPr id="221" name="Google Shape;221;p19"/>
          <p:cNvSpPr txBox="1"/>
          <p:nvPr>
            <p:ph idx="1" type="body"/>
          </p:nvPr>
        </p:nvSpPr>
        <p:spPr>
          <a:xfrm>
            <a:off x="406400" y="2163900"/>
            <a:ext cx="51414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Erweiterung um mehrere Container gemeinsam zu definieren und zu starten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1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/>
              <a:t>Docker-compose.yml</a:t>
            </a:r>
            <a:endParaRPr b="1" sz="205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dient als zentrale Konfigurationsdatei für:</a:t>
            </a:r>
            <a:endParaRPr/>
          </a:p>
          <a:p>
            <a:pPr indent="-281716" lvl="4" marL="288003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services: Welche Container sollen laufen</a:t>
            </a:r>
            <a:endParaRPr/>
          </a:p>
          <a:p>
            <a:pPr indent="-288003" lvl="4" marL="288003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networks: Wie kommunizieren sie? </a:t>
            </a:r>
            <a:endParaRPr/>
          </a:p>
          <a:p>
            <a:pPr indent="-288003" lvl="4" marL="288003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volumes: Wo werden Daten gespeichert?</a:t>
            </a:r>
            <a:endParaRPr/>
          </a:p>
          <a:p>
            <a:pPr indent="-294289" lvl="4" marL="288003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ports: Welche Ports werden verwendet?</a:t>
            </a:r>
            <a:endParaRPr/>
          </a:p>
        </p:txBody>
      </p:sp>
      <p:pic>
        <p:nvPicPr>
          <p:cNvPr id="222" name="Google Shape;2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3150" y="2733838"/>
            <a:ext cx="6488850" cy="2943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28" name="Google Shape;228;p20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20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Dev Container - Übersicht</a:t>
            </a:r>
            <a:endParaRPr/>
          </a:p>
        </p:txBody>
      </p:sp>
      <p:sp>
        <p:nvSpPr>
          <p:cNvPr id="231" name="Google Shape;231;p20"/>
          <p:cNvSpPr txBox="1"/>
          <p:nvPr>
            <p:ph idx="1" type="body"/>
          </p:nvPr>
        </p:nvSpPr>
        <p:spPr>
          <a:xfrm>
            <a:off x="406400" y="2160600"/>
            <a:ext cx="110805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/>
              <a:t>Developer Container - Container für Entwicklung</a:t>
            </a:r>
            <a:endParaRPr/>
          </a:p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9"/>
              <a:t>VS Code Local:  	</a:t>
            </a:r>
            <a:endParaRPr sz="2099"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Entwicklungsumgebung läuft local</a:t>
            </a:r>
            <a:endParaRPr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Source Code liegt Local</a:t>
            </a:r>
            <a:endParaRPr/>
          </a:p>
          <a:p>
            <a:pPr indent="0" lvl="0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9"/>
              <a:t>VS Code Server (Local):</a:t>
            </a:r>
            <a:endParaRPr b="1" sz="2099"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Container auf dem Lokalen Rechner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Innerhalb des Containers wird Entwickelt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Konsistente, portable Entwicklungsumgebung unabhängig vom Hostsystem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Einfach Portierbar (zb. mit Github)</a:t>
            </a:r>
            <a:endParaRPr/>
          </a:p>
          <a:p>
            <a:pPr indent="0" lvl="7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/>
          </a:p>
        </p:txBody>
      </p:sp>
      <p:pic>
        <p:nvPicPr>
          <p:cNvPr id="232" name="Google Shape;232;p20" title="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575" y="2580550"/>
            <a:ext cx="6196451" cy="25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38" name="Google Shape;238;p21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21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Dev Container - Aufbau</a:t>
            </a:r>
            <a:endParaRPr/>
          </a:p>
        </p:txBody>
      </p:sp>
      <p:sp>
        <p:nvSpPr>
          <p:cNvPr id="241" name="Google Shape;241;p21"/>
          <p:cNvSpPr txBox="1"/>
          <p:nvPr>
            <p:ph idx="1" type="body"/>
          </p:nvPr>
        </p:nvSpPr>
        <p:spPr>
          <a:xfrm>
            <a:off x="406400" y="2160600"/>
            <a:ext cx="76899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/>
              <a:t>Im VS Code Workspace wird ein .devcontainer/-Ordner angelegt.</a:t>
            </a:r>
            <a:endParaRPr/>
          </a:p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Darin befinden sich:</a:t>
            </a:r>
            <a:endParaRPr/>
          </a:p>
          <a:p>
            <a:pPr indent="-355536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AutoNum type="arabicPeriod"/>
            </a:pPr>
            <a:r>
              <a:rPr b="1" lang="en-US" sz="2099"/>
              <a:t>devcontainer.json  </a:t>
            </a:r>
            <a:r>
              <a:rPr b="1" lang="en-US" sz="1999"/>
              <a:t>	</a:t>
            </a:r>
            <a:endParaRPr sz="1999"/>
          </a:p>
          <a:p>
            <a:pPr indent="-281716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Konfiguriert den Dev-Container</a:t>
            </a:r>
            <a:endParaRPr/>
          </a:p>
          <a:p>
            <a:pPr indent="-281716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Workpath, Dockerfiles, Ports, extensions</a:t>
            </a:r>
            <a:endParaRPr/>
          </a:p>
          <a:p>
            <a:pPr indent="-374713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301"/>
              <a:buAutoNum type="arabicPeriod"/>
            </a:pPr>
            <a:r>
              <a:rPr b="1" lang="en-US" sz="2301"/>
              <a:t>Dockerfiles:</a:t>
            </a:r>
            <a:endParaRPr b="1" sz="2301"/>
          </a:p>
          <a:p>
            <a:pPr indent="-281716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Dockerfile (ohne endung)</a:t>
            </a:r>
            <a:endParaRPr/>
          </a:p>
          <a:p>
            <a:pPr indent="-281716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docker-compose.yml</a:t>
            </a:r>
            <a:endParaRPr/>
          </a:p>
          <a:p>
            <a:pPr indent="-361886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099"/>
              <a:buAutoNum type="arabicPeriod"/>
            </a:pPr>
            <a:r>
              <a:rPr b="1" lang="en-US" sz="2099"/>
              <a:t>Dependence:</a:t>
            </a:r>
            <a:endParaRPr b="1" sz="2099"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python requirements.txt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Startup-Skripte (.sh)</a:t>
            </a:r>
            <a:endParaRPr/>
          </a:p>
        </p:txBody>
      </p:sp>
      <p:pic>
        <p:nvPicPr>
          <p:cNvPr id="242" name="Google Shape;242;p21" title="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8700" y="2047976"/>
            <a:ext cx="3790900" cy="385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>
            <p:ph type="ctrTitle"/>
          </p:nvPr>
        </p:nvSpPr>
        <p:spPr>
          <a:xfrm>
            <a:off x="1530728" y="2160001"/>
            <a:ext cx="102528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/>
              <a:t>Remote</a:t>
            </a:r>
            <a:r>
              <a:rPr lang="en-US"/>
              <a:t> Development</a:t>
            </a:r>
            <a:endParaRPr/>
          </a:p>
        </p:txBody>
      </p:sp>
      <p:sp>
        <p:nvSpPr>
          <p:cNvPr id="248" name="Google Shape;248;p22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49" name="Google Shape;249;p22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Remote Development with Dev Container | Christian Heinzmann | 2025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t/>
            </a:r>
            <a:endParaRPr b="1" sz="1300"/>
          </a:p>
        </p:txBody>
      </p:sp>
      <p:sp>
        <p:nvSpPr>
          <p:cNvPr id="250" name="Google Shape;250;p22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1530728" y="3905249"/>
            <a:ext cx="10252800" cy="23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en-US"/>
              <a:t>Remote Development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en-US"/>
              <a:t>Remote SSH </a:t>
            </a:r>
            <a:r>
              <a:rPr lang="en-US"/>
              <a:t>Development</a:t>
            </a:r>
            <a:r>
              <a:rPr lang="en-US"/>
              <a:t> with Dev Container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57" name="Google Shape;257;p23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23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Remote SSH Development</a:t>
            </a:r>
            <a:endParaRPr/>
          </a:p>
        </p:txBody>
      </p:sp>
      <p:sp>
        <p:nvSpPr>
          <p:cNvPr id="260" name="Google Shape;260;p23"/>
          <p:cNvSpPr txBox="1"/>
          <p:nvPr>
            <p:ph idx="1" type="body"/>
          </p:nvPr>
        </p:nvSpPr>
        <p:spPr>
          <a:xfrm>
            <a:off x="406400" y="2160600"/>
            <a:ext cx="110805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/>
              <a:t>Entwicklung</a:t>
            </a:r>
            <a:r>
              <a:rPr lang="en-US"/>
              <a:t> direkt auf dem S</a:t>
            </a:r>
            <a:r>
              <a:rPr lang="en-US"/>
              <a:t>erver</a:t>
            </a:r>
            <a:r>
              <a:rPr lang="en-US"/>
              <a:t> über eine Verbindung per SSH.</a:t>
            </a:r>
            <a:endParaRPr/>
          </a:p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9"/>
              <a:t>VS Code Local:  </a:t>
            </a:r>
            <a:r>
              <a:rPr b="1" lang="en-US" sz="1999"/>
              <a:t>	</a:t>
            </a:r>
            <a:endParaRPr sz="1999"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VS Code </a:t>
            </a:r>
            <a:r>
              <a:rPr lang="en-US"/>
              <a:t>Extension</a:t>
            </a:r>
            <a:endParaRPr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SSH Verbindung zum Server</a:t>
            </a:r>
            <a:r>
              <a:rPr lang="en-US"/>
              <a:t> </a:t>
            </a:r>
            <a:endParaRPr/>
          </a:p>
          <a:p>
            <a:pPr indent="0" lvl="0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9"/>
              <a:t>VS Code Server:</a:t>
            </a:r>
            <a:endParaRPr b="1" sz="2099"/>
          </a:p>
          <a:p>
            <a:pPr indent="-281716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“Normale” SSH Verbindung</a:t>
            </a:r>
            <a:endParaRPr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Localer Workspace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Programm läuft direkt auf dem Server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Output auf Local OS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/>
          </a:p>
        </p:txBody>
      </p:sp>
      <p:pic>
        <p:nvPicPr>
          <p:cNvPr id="261" name="Google Shape;2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9150" y="2921875"/>
            <a:ext cx="6252849" cy="202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67" name="Google Shape;267;p24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68" name="Google Shape;268;p24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24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SSH Remote Development with Dev Container</a:t>
            </a:r>
            <a:endParaRPr/>
          </a:p>
        </p:txBody>
      </p:sp>
      <p:sp>
        <p:nvSpPr>
          <p:cNvPr id="270" name="Google Shape;270;p24"/>
          <p:cNvSpPr txBox="1"/>
          <p:nvPr>
            <p:ph idx="1" type="body"/>
          </p:nvPr>
        </p:nvSpPr>
        <p:spPr>
          <a:xfrm>
            <a:off x="406400" y="2160600"/>
            <a:ext cx="110805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/>
              <a:t>Kombination</a:t>
            </a:r>
            <a:r>
              <a:rPr lang="en-US"/>
              <a:t> von SSH Development und Dev Container</a:t>
            </a:r>
            <a:endParaRPr/>
          </a:p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9"/>
              <a:t>Local:  </a:t>
            </a:r>
            <a:r>
              <a:rPr b="1" lang="en-US" sz="1999"/>
              <a:t>	</a:t>
            </a:r>
            <a:endParaRPr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SSH Verbindung zum Server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9"/>
              <a:t>Server</a:t>
            </a:r>
            <a:r>
              <a:rPr b="1" lang="en-US" sz="2099"/>
              <a:t>:</a:t>
            </a:r>
            <a:endParaRPr sz="2301"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Repo Local auf dem Remote Server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Build and Run:</a:t>
            </a:r>
            <a:endParaRPr/>
          </a:p>
          <a:p>
            <a:pPr indent="-203301" lvl="5" marL="504004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99"/>
              <a:buChar char="•"/>
            </a:pPr>
            <a:r>
              <a:rPr lang="en-US" sz="1799"/>
              <a:t>Dev Container</a:t>
            </a:r>
            <a:endParaRPr sz="1799"/>
          </a:p>
          <a:p>
            <a:pPr indent="-203301" lvl="5" marL="504004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99"/>
              <a:buChar char="•"/>
            </a:pPr>
            <a:r>
              <a:rPr lang="en-US" sz="1799"/>
              <a:t>Docker-Compose</a:t>
            </a:r>
            <a:endParaRPr sz="1799"/>
          </a:p>
          <a:p>
            <a:pPr indent="-203301" lvl="5" marL="504004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99"/>
              <a:buChar char="•"/>
            </a:pPr>
            <a:r>
              <a:rPr lang="en-US" sz="1799"/>
              <a:t>Docker Image und Container</a:t>
            </a:r>
            <a:endParaRPr sz="1799"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Container läuft auf Remote Server</a:t>
            </a:r>
            <a:endParaRPr/>
          </a:p>
        </p:txBody>
      </p:sp>
      <p:pic>
        <p:nvPicPr>
          <p:cNvPr id="271" name="Google Shape;271;p24" title="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6625" y="3741850"/>
            <a:ext cx="3010625" cy="125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/>
          <p:nvPr/>
        </p:nvSpPr>
        <p:spPr>
          <a:xfrm>
            <a:off x="8897525" y="2312725"/>
            <a:ext cx="1293600" cy="625500"/>
          </a:xfrm>
          <a:prstGeom prst="roundRect">
            <a:avLst>
              <a:gd fmla="val 16667" name="adj"/>
            </a:avLst>
          </a:prstGeom>
          <a:solidFill>
            <a:srgbClr val="64B32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Local OS</a:t>
            </a:r>
            <a:endParaRPr sz="1800"/>
          </a:p>
        </p:txBody>
      </p:sp>
      <p:grpSp>
        <p:nvGrpSpPr>
          <p:cNvPr id="273" name="Google Shape;273;p24"/>
          <p:cNvGrpSpPr/>
          <p:nvPr/>
        </p:nvGrpSpPr>
        <p:grpSpPr>
          <a:xfrm>
            <a:off x="7305275" y="3677288"/>
            <a:ext cx="4478100" cy="1379413"/>
            <a:chOff x="7305275" y="4127988"/>
            <a:chExt cx="4478100" cy="1379413"/>
          </a:xfrm>
        </p:grpSpPr>
        <p:sp>
          <p:nvSpPr>
            <p:cNvPr id="274" name="Google Shape;274;p24"/>
            <p:cNvSpPr/>
            <p:nvPr/>
          </p:nvSpPr>
          <p:spPr>
            <a:xfrm>
              <a:off x="7305275" y="4128000"/>
              <a:ext cx="4349100" cy="13794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4"/>
            <p:cNvSpPr txBox="1"/>
            <p:nvPr/>
          </p:nvSpPr>
          <p:spPr>
            <a:xfrm>
              <a:off x="7305275" y="4127988"/>
              <a:ext cx="4478100" cy="6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1">
                  <a:solidFill>
                    <a:schemeClr val="dk1"/>
                  </a:solidFill>
                </a:rPr>
                <a:t>Remote </a:t>
              </a:r>
              <a:endParaRPr sz="1801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1">
                  <a:solidFill>
                    <a:schemeClr val="dk1"/>
                  </a:solidFill>
                </a:rPr>
                <a:t>SSH Server</a:t>
              </a:r>
              <a:endParaRPr sz="1801">
                <a:solidFill>
                  <a:schemeClr val="dk1"/>
                </a:solidFill>
              </a:endParaRPr>
            </a:p>
          </p:txBody>
        </p:sp>
      </p:grpSp>
      <p:cxnSp>
        <p:nvCxnSpPr>
          <p:cNvPr id="276" name="Google Shape;276;p24"/>
          <p:cNvCxnSpPr>
            <a:stCxn id="272" idx="2"/>
            <a:endCxn id="275" idx="0"/>
          </p:cNvCxnSpPr>
          <p:nvPr/>
        </p:nvCxnSpPr>
        <p:spPr>
          <a:xfrm>
            <a:off x="9544325" y="2938225"/>
            <a:ext cx="0" cy="73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24"/>
          <p:cNvSpPr txBox="1"/>
          <p:nvPr/>
        </p:nvSpPr>
        <p:spPr>
          <a:xfrm>
            <a:off x="9544325" y="3059050"/>
            <a:ext cx="18339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1">
                <a:solidFill>
                  <a:schemeClr val="dk1"/>
                </a:solidFill>
              </a:rPr>
              <a:t>SSH Verbindung</a:t>
            </a:r>
            <a:endParaRPr sz="150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83" name="Google Shape;283;p25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84" name="Google Shape;284;p25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25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Unser System</a:t>
            </a:r>
            <a:endParaRPr/>
          </a:p>
        </p:txBody>
      </p:sp>
      <p:pic>
        <p:nvPicPr>
          <p:cNvPr id="286" name="Google Shape;286;p25" title="DevContainer_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1000" y="1190350"/>
            <a:ext cx="5910000" cy="50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92" name="Google Shape;292;p26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26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Unser System</a:t>
            </a:r>
            <a:endParaRPr/>
          </a:p>
        </p:txBody>
      </p:sp>
      <p:pic>
        <p:nvPicPr>
          <p:cNvPr id="295" name="Google Shape;295;p26" title="DevContainer_1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1000" y="1190350"/>
            <a:ext cx="5910000" cy="50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301" name="Google Shape;301;p27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02" name="Google Shape;302;p27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27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Unser System</a:t>
            </a:r>
            <a:endParaRPr/>
          </a:p>
        </p:txBody>
      </p:sp>
      <p:pic>
        <p:nvPicPr>
          <p:cNvPr id="304" name="Google Shape;304;p27" title="DevContainer_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1000" y="1190350"/>
            <a:ext cx="5910000" cy="50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310" name="Google Shape;310;p28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11" name="Google Shape;311;p28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28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Unser System</a:t>
            </a:r>
            <a:endParaRPr/>
          </a:p>
        </p:txBody>
      </p:sp>
      <p:pic>
        <p:nvPicPr>
          <p:cNvPr id="313" name="Google Shape;313;p28" title="DevContainer_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1000" y="1190350"/>
            <a:ext cx="5910000" cy="50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319" name="Google Shape;319;p29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20" name="Google Shape;320;p29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29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Unser System</a:t>
            </a:r>
            <a:endParaRPr/>
          </a:p>
        </p:txBody>
      </p:sp>
      <p:pic>
        <p:nvPicPr>
          <p:cNvPr id="322" name="Google Shape;322;p29" title="DevContainer_al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0000" y="1190350"/>
            <a:ext cx="5910000" cy="50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328" name="Google Shape;328;p30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29" name="Google Shape;329;p30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" name="Google Shape;330;p30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Unser System</a:t>
            </a:r>
            <a:endParaRPr/>
          </a:p>
        </p:txBody>
      </p:sp>
      <p:pic>
        <p:nvPicPr>
          <p:cNvPr id="331" name="Google Shape;331;p30" title="DevContainer_gi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0000" y="1190350"/>
            <a:ext cx="5910000" cy="50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337" name="Google Shape;337;p31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31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Unser System</a:t>
            </a:r>
            <a:endParaRPr/>
          </a:p>
        </p:txBody>
      </p:sp>
      <p:pic>
        <p:nvPicPr>
          <p:cNvPr id="340" name="Google Shape;340;p31" title="DevContainer_gi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1875" y="2222262"/>
            <a:ext cx="4612150" cy="39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1"/>
          <p:cNvSpPr txBox="1"/>
          <p:nvPr>
            <p:ph idx="1" type="body"/>
          </p:nvPr>
        </p:nvSpPr>
        <p:spPr>
          <a:xfrm>
            <a:off x="406400" y="2143375"/>
            <a:ext cx="7308000" cy="4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/>
              <a:t>Kombination von SSH Development und Dev Container</a:t>
            </a:r>
            <a:endParaRPr/>
          </a:p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9"/>
              <a:t>Local:  </a:t>
            </a:r>
            <a:r>
              <a:rPr b="1" lang="en-US" sz="1999"/>
              <a:t>	</a:t>
            </a:r>
            <a:endParaRPr sz="1999"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VS Code with SSH Remote Development Extension</a:t>
            </a:r>
            <a:endParaRPr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SSH Verbindung zum Server</a:t>
            </a:r>
            <a:endParaRPr/>
          </a:p>
          <a:p>
            <a:pPr indent="0" lvl="0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9"/>
              <a:t>Server:</a:t>
            </a:r>
            <a:endParaRPr sz="2301"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Repo Clonen mit Github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Öffnen des Workspace (local) mit VS Code SSH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Automatisches erstellen und starten des Dev Containers 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Automatisches Verbinden zum Container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Bereit zum Development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347" name="Google Shape;347;p32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48" name="Google Shape;348;p32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" name="Google Shape;349;p32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Important 2 Know</a:t>
            </a:r>
            <a:endParaRPr/>
          </a:p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406400" y="2160600"/>
            <a:ext cx="110805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/>
              <a:t>Tips und Tricks:</a:t>
            </a:r>
            <a:endParaRPr/>
          </a:p>
          <a:p>
            <a:pPr indent="0" lvl="2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9"/>
              <a:t>VS Code Local: </a:t>
            </a:r>
            <a:r>
              <a:rPr b="1" lang="en-US" sz="1999"/>
              <a:t> 	</a:t>
            </a:r>
            <a:endParaRPr sz="1999"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Entwicklungsumgebung läuft local</a:t>
            </a:r>
            <a:endParaRPr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Source Code liegt Local </a:t>
            </a:r>
            <a:endParaRPr/>
          </a:p>
          <a:p>
            <a:pPr indent="-197015" lvl="5" marL="504004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99"/>
              <a:t>nicht gleicher Source Code wie auf Server</a:t>
            </a:r>
            <a:endParaRPr sz="1799"/>
          </a:p>
          <a:p>
            <a:pPr indent="-203301" lvl="5" marL="504004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99"/>
              <a:buChar char="•"/>
            </a:pPr>
            <a:r>
              <a:rPr lang="en-US" sz="1799"/>
              <a:t>Fix: Verschiedene Git Branches Nutzen</a:t>
            </a:r>
            <a:endParaRPr sz="1799"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9"/>
              <a:t>VS Code Server:</a:t>
            </a:r>
            <a:endParaRPr b="1" sz="2099"/>
          </a:p>
          <a:p>
            <a:pPr indent="-281716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Container auf dem SSH Server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Daten innerhalb des Containers welche nicht </a:t>
            </a:r>
            <a:r>
              <a:rPr lang="en-US"/>
              <a:t>gemountet</a:t>
            </a:r>
            <a:r>
              <a:rPr lang="en-US"/>
              <a:t> werden sind nach neustarten gelöscht</a:t>
            </a:r>
            <a:endParaRPr/>
          </a:p>
          <a:p>
            <a:pPr indent="-288003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Fix: Mounten von ganzer Repo und Venvs von </a:t>
            </a:r>
            <a:r>
              <a:rPr lang="en-US"/>
              <a:t>außerhalb</a:t>
            </a:r>
            <a:r>
              <a:rPr lang="en-US"/>
              <a:t> des Containers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357" name="Google Shape;357;p33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Remote Development with Dev Container | Christian Heinzmann | 2025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58" name="Google Shape;358;p33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33"/>
          <p:cNvSpPr txBox="1"/>
          <p:nvPr>
            <p:ph idx="1" type="body"/>
          </p:nvPr>
        </p:nvSpPr>
        <p:spPr>
          <a:xfrm>
            <a:off x="2088000" y="4284000"/>
            <a:ext cx="9695489" cy="1959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en-US"/>
              <a:t>Please refer any questions to:</a:t>
            </a:r>
            <a:endParaRPr/>
          </a:p>
          <a:p>
            <a:pPr indent="0" lvl="1" marL="0" rtl="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SzPts val="1900"/>
              <a:buNone/>
            </a:pPr>
            <a:r>
              <a:rPr lang="en-US"/>
              <a:t>Christian Heinzmann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en-US"/>
              <a:t>christian.heinzmann@hs-heilbronn.de</a:t>
            </a:r>
            <a:endParaRPr/>
          </a:p>
        </p:txBody>
      </p:sp>
      <p:sp>
        <p:nvSpPr>
          <p:cNvPr id="360" name="Google Shape;360;p33"/>
          <p:cNvSpPr txBox="1"/>
          <p:nvPr>
            <p:ph idx="2" type="body"/>
          </p:nvPr>
        </p:nvSpPr>
        <p:spPr>
          <a:xfrm>
            <a:off x="2087996" y="2160588"/>
            <a:ext cx="9695489" cy="1851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366" name="Google Shape;366;p34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Remote Development with Dev Container 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67" name="Google Shape;367;p34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34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Quellen zu den Bildern:</a:t>
            </a:r>
            <a:endParaRPr/>
          </a:p>
        </p:txBody>
      </p:sp>
      <p:sp>
        <p:nvSpPr>
          <p:cNvPr id="369" name="Google Shape;369;p34"/>
          <p:cNvSpPr txBox="1"/>
          <p:nvPr>
            <p:ph idx="1" type="body"/>
          </p:nvPr>
        </p:nvSpPr>
        <p:spPr>
          <a:xfrm>
            <a:off x="406400" y="2160600"/>
            <a:ext cx="113772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63" lvl="0" marL="457200" rtl="0" algn="l">
              <a:lnSpc>
                <a:spcPct val="105000"/>
              </a:lnSpc>
              <a:spcBef>
                <a:spcPts val="599"/>
              </a:spcBef>
              <a:spcAft>
                <a:spcPts val="0"/>
              </a:spcAft>
              <a:buSzPts val="2201"/>
              <a:buAutoNum type="arabicPeriod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https://code.visualstudio.com/docs/devcontainers/containers</a:t>
            </a:r>
            <a:endParaRPr/>
          </a:p>
          <a:p>
            <a:pPr indent="-36836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1"/>
              <a:buAutoNum type="arabicPeriod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https://www.altexsoft.com/blog/docker-pros-and-cons/</a:t>
            </a:r>
            <a:endParaRPr/>
          </a:p>
          <a:p>
            <a:pPr indent="-36836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1"/>
              <a:buAutoNum type="arabicPeriod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https://www.docker.com/resources/what-container/</a:t>
            </a:r>
            <a:endParaRPr/>
          </a:p>
          <a:p>
            <a:pPr indent="-36836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1"/>
              <a:buAutoNum type="arabicPeriod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https://cto.ai/blog/docker-image-vs-container-vs-dockerfile/</a:t>
            </a:r>
            <a:endParaRPr/>
          </a:p>
          <a:p>
            <a:pPr indent="-36836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1"/>
              <a:buAutoNum type="arabicPeriod"/>
            </a:pPr>
            <a:r>
              <a:rPr lang="en-US"/>
              <a:t>https://medium.com/data-science/getting-started-with-the-dev-containers-extension-a5ea49abfc34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PT_HHN_16x9_EN_01">
  <a:themeElements>
    <a:clrScheme name="Hochschule Heilbronn PPT">
      <a:dk1>
        <a:srgbClr val="000000"/>
      </a:dk1>
      <a:lt1>
        <a:srgbClr val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rissa">
  <a:themeElements>
    <a:clrScheme name="Lariss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